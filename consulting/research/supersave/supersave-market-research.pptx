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491D"/>
                </a:solidFill>
                <a:latin typeface="맑은 고딕"/>
              </a:defRPr>
            </a:pPr>
            <a:r>
              <a:t>MARKET DESK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슈퍼세이브</a:t>
            </a:r>
            <a:br/>
            <a:r>
              <a:t>곰보배추시럽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국내외 시장 환경 분석 및 경쟁 브랜드 벤치마킹</a:t>
            </a:r>
          </a:p>
          <a:p>
            <a:pPr algn="l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건강즙/허벌시럽 카테고리 마켓 데스크 리서치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Prepared by BRAND RISE</a:t>
            </a:r>
          </a:p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2026.04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8100" cy="8229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01. 시장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시장 정의, 규모, 성장률, 핵심 트렌드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38100" cy="82296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02. 소비자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타겟 세그먼트 4개, 구매 동기, 구매 여정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81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03. 경쟁사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국내 9개 브랜드, 포지셔닝 맵, 비교 분석표, 개별 프로필 6건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381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04. 슈퍼세이브 브랜드 진단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기업 정보, 제품, 유통, SNS, 브랜딩 현황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381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05. 유통 채널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온/오프라인 채널 현황 및 전략 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3810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06. 인사이트 &amp; 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SWOT 분석, 핵심 기회, 전략 방향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486400"/>
            <a:ext cx="3810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맑은 고딕"/>
              </a:defRPr>
            </a:pPr>
            <a:r>
              <a:t>07. 해외 시장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897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글로벌 허벌 시장, 벤치마킹 6개 브랜드, 진출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시장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Market Overview — 건강즙/곰보배추시럽 시장 정의, 규모, 핵심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01.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시장 정의 &amp; 규모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3A8C"/>
                </a:solidFill>
                <a:latin typeface="맑은 고딕"/>
              </a:defRPr>
            </a:pPr>
            <a:r>
              <a:t>~6조원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건강기능식품 전체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3A8C"/>
                </a:solidFill>
                <a:latin typeface="맑은 고딕"/>
              </a:defRPr>
            </a:pPr>
            <a:r>
              <a:t>1.2~1.5조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건강즙 시장 (추정)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3A8C"/>
                </a:solidFill>
                <a:latin typeface="맑은 고딕"/>
              </a:defRPr>
            </a:pPr>
            <a:r>
              <a:t>50~150억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곰보배추시럽 니치 (추정)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3A8C"/>
                </a:solidFill>
                <a:latin typeface="맑은 고딕"/>
              </a:defRPr>
            </a:pPr>
            <a:r>
              <a:t>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건기식 CAGR (5년)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시장 정의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346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곰보배추시럽은 단일 카테고리가 아닌 복수 시장의 교차점에 위치합니다.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건강즙/건강음료 시장과 전통 민간약초 식품 시장의 교집합이며,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식약처 인증 건강기능식품이 아닌 '일반식품'으로 분류되어 기능성 표시가 불가합니다.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377440"/>
            <a:ext cx="5303520" cy="2286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카테고리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건강즙/건강음료 (핵심)</a:t>
            </a:r>
            <a:br/>
            <a:r>
              <a:t>• 전통 민간약초 (핵심)</a:t>
            </a:r>
            <a:br/>
            <a:r>
              <a:t>• 호흡기 건강식품</a:t>
            </a:r>
            <a:br/>
            <a:r>
              <a:t>• 유아 건강식품 (신흥)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출처: 한국건강기능식품협회, e-나라지표, 헤럴드경제, HIZ 추정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01.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건강기능식품 시장 규모 추이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011680" cy="12801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맑은 고딕"/>
              </a:defRPr>
            </a:pPr>
            <a:r>
              <a:t>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8C"/>
                </a:solidFill>
                <a:latin typeface="맑은 고딕"/>
              </a:defRPr>
            </a:pPr>
            <a:r>
              <a:t>5조 6,902억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280160"/>
            <a:ext cx="2011680" cy="12801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맑은 고딕"/>
              </a:defRPr>
            </a:pPr>
            <a: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8C"/>
                </a:solidFill>
                <a:latin typeface="맑은 고딕"/>
              </a:defRPr>
            </a:pPr>
            <a:r>
              <a:t>6조 1,498억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+8.1%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280160"/>
            <a:ext cx="2011680" cy="12801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맑은 고딕"/>
              </a:defRPr>
            </a:pPr>
            <a: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8C"/>
                </a:solidFill>
                <a:latin typeface="맑은 고딕"/>
              </a:defRPr>
            </a:pPr>
            <a:r>
              <a:t>6조 1,415억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-0.1%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280160"/>
            <a:ext cx="2011680" cy="12801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맑은 고딕"/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8C"/>
                </a:solidFill>
                <a:latin typeface="맑은 고딕"/>
              </a:defRPr>
            </a:pPr>
            <a:r>
              <a:t>5조 9,531억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-3.1%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280160"/>
            <a:ext cx="2011680" cy="128016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맑은 고딕"/>
              </a:defRPr>
            </a:pPr>
            <a:r>
              <a:t>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3A8C"/>
                </a:solidFill>
                <a:latin typeface="맑은 고딕"/>
              </a:defRPr>
            </a:pPr>
            <a:r>
              <a:t>5조 9,626억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+0.2%</a:t>
            </a:r>
          </a:p>
        </p:txBody>
      </p:sp>
      <p:pic>
        <p:nvPicPr>
          <p:cNvPr id="27" name="Picture 26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515600" cy="5323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01.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핵심 트렌드 (2024-2026)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1828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810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면역력 관심 폭증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코로나19 이후 호흡기 건강 관심 지속. 면역력 강화 건강식품 수요 상승세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303520" cy="1828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3810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17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MZ세대 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2030 젊은 세대까지 건강즙 소비층 확대. SNS/숏폼 콘텐츠 중심 구매 여정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303520" cy="1828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381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프리미엄화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저가 경쟁 → 원료 품질·브랜딩으로 경쟁축 이동. 스토리텔링 중요도 상승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303520" cy="1828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38100" cy="182880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703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유아 건강식품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유아/어린이 대상 건강즙 시장 급성장. 엄마 소비자 중심 구전 마케팅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01. 시장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성장 동인 &amp; 위험요인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4114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맑은 고딕"/>
              </a:defRPr>
            </a:pPr>
            <a:r>
              <a:t>성장 동인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호흡기 건강 관심 지속 (엔데믹 이후에도 유지)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건강즙 소비자 연령층 확대 (중년 → 2030)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TV홈쇼핑/라이브커머스 채널 성장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프리미엄 건강식품 트렌드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유아/어린이 건강식품 시장 급성장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1148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맑은 고딕"/>
              </a:defRPr>
            </a:pPr>
            <a:r>
              <a:t>위험요인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건기식 전체 시장 정체/역성장 (-3.1%, 2024)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일반식품 분류 → 기능성 표시 불가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영세 업체 난립으로 품질 신뢰 저하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원료(곰보배추) 수급 불안정성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대형 식품기업 진출 시 경쟁 심화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소비자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Consumer Analysis — 타겟 세그먼트, 구매 동기, 구매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02. 소비자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타겟 세그먼트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09</a:t>
            </a:r>
          </a:p>
        </p:txBody>
      </p:sp>
      <p:pic>
        <p:nvPicPr>
          <p:cNvPr id="7" name="Picture 6" descr="chart_consumer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972800" cy="8298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02. 소비자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구매 동기 &amp; 구매 여정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10</a:t>
            </a:r>
          </a:p>
        </p:txBody>
      </p:sp>
      <p:pic>
        <p:nvPicPr>
          <p:cNvPr id="7" name="Picture 6" descr="chart_purchase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972800" cy="6118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Competitor Analysis — Tier별 분류, 비교 분석표, 포지셔닝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03. 경쟁사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경쟁 구도 개요 (Tier별 분류)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슈퍼세이브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(주)승만 · 경기 고양</a:t>
            </a:r>
            <a:br/>
            <a:r>
              <a:t>리뷰 1,564개 (4.9점)</a:t>
            </a:r>
            <a:br/>
            <a:r>
              <a:t>52,000원 (선물세트)</a:t>
            </a:r>
            <a:br/>
            <a:r>
              <a:t>CJ온스타일, 자사몰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슬리아 곰백보감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슬리아 · 3개국 특허</a:t>
            </a:r>
            <a:br/>
            <a:r>
              <a:t>34,900원 (20포)</a:t>
            </a:r>
            <a:br/>
            <a:r>
              <a:t>의사/약사 개발 신뢰</a:t>
            </a:r>
            <a:br/>
            <a:r>
              <a:t>쿠팡, 자사몰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3736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한국유기농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(주)한국유기농</a:t>
            </a:r>
            <a:br/>
            <a:r>
              <a:t>구매자 49만명 · 평점 5.0</a:t>
            </a:r>
            <a:br/>
            <a:r>
              <a:t>24,900원 (14포)</a:t>
            </a:r>
            <a:br/>
            <a:r>
              <a:t>쿠마마켓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3192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023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오늘과일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89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유아/아이 타겟 특화</a:t>
            </a:r>
            <a:br/>
            <a:r>
              <a:t>19,980원 (14포)</a:t>
            </a:r>
            <a:br/>
            <a:r>
              <a:t>국내산 프리미엄</a:t>
            </a:r>
            <a:br/>
            <a:r>
              <a:t>오아시스, 11번가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73736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곰배랑효소랑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194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영농조합 · 여주</a:t>
            </a:r>
            <a:br/>
            <a:r>
              <a:t>26종 라인업</a:t>
            </a:r>
            <a:br/>
            <a:r>
              <a:t>직접 재배→가공 일관</a:t>
            </a:r>
            <a:br/>
            <a:r>
              <a:t>자사몰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931920"/>
            <a:ext cx="3474720" cy="1920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023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맑은 고딕"/>
              </a:defRPr>
            </a:pPr>
            <a:r>
              <a:t>사온데 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389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농가 직영 · 로컬</a:t>
            </a:r>
            <a:br/>
            <a:r>
              <a:t>원산지 프리미엄</a:t>
            </a:r>
            <a:br/>
            <a:r>
              <a:t>브랜딩/마케팅 미약</a:t>
            </a:r>
            <a:br/>
            <a:r>
              <a:t>자사몰, 직거래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03. 경쟁사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경쟁사 비교 분석표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8782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브랜드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포지셔닝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스틱 단가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타겟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강점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약점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채널</a:t>
                      </a:r>
                    </a:p>
                  </a:txBody>
                  <a:tcPr>
                    <a:solidFill>
                      <a:srgbClr val="2D3A8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슈퍼세이브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온 가족 건강방패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~1,150원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엄마/가족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원조, 리뷰4.9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SNS 취약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자사몰, CJ</a:t>
                      </a:r>
                    </a:p>
                  </a:txBody>
                  <a:tcPr>
                    <a:solidFill>
                      <a:srgbClr val="EEF0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슬리아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의사/약사 개발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~1,750원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건강관심층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3개국 특허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높은 가격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쿠팡, 자사몰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한국유기농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공장도 가성비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~1,780원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가성비층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49만 구매자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브랜딩 약함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쿠마마켓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오늘과일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유아 프리미엄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~1,430원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영유아 엄마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유아 특화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인지도 낮음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오아시스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곰배랑효소랑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농장 직영 신뢰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~900원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약초 선호층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26종, 직접재배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마케팅 미약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자사몰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새잎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복합 성분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미확인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건강관심층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삼백초+엘더베리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인지도 없음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온라인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03. 경쟁사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포지셔닝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14</a:t>
            </a:r>
          </a:p>
        </p:txBody>
      </p:sp>
      <p:pic>
        <p:nvPicPr>
          <p:cNvPr id="7" name="Picture 6" descr="chart_position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972800" cy="83494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슬리아 (곰백보관)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2D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슬리아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"30년 경력 의사/약사가 만든 곰보배추시럽"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3개국 호흡기 특허 성분 '노스릴리브' 보유. 의료진 개발 신뢰도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1박스(20포) 34,900원 / 9박스 216,000원</a:t>
            </a:r>
            <a:br/>
            <a:r>
              <a:t>스틱 단가 ~1,750원/포 (프리미엄)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쿠팡, 자사몰, 다나와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의사·약사 개발이라는 전문가 신뢰 포지셔닝이 명확함. 3개국 특허 성분을 전면에 내세워 경쟁사 대비 과학적 근거가 강함. 프리미엄 가격 정책을 유지하면서도 대량 구매 시 할인으로 재구매 유도.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sliah.com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곰보배추시럽 15g×20포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34,900원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9박스 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216,000원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슈퍼세이브 대비 과학적 신뢰도(특허)에서 우위. 단, 가격대가 높아 대중 접근성은 낮음. TV홈쇼핑 미진출.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한국유기농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(주)한국유기농 · 대표 김성중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"저온추출 공법, 국내산 곰보배추+배+생강"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구매자 49만명, 리뷰 976개, 평점 5.0. 공장도 가성비 소구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1박스(14포) 24,900원 (정가 33,900원, 27% 할인)</a:t>
            </a:r>
            <a:br/>
            <a:r>
              <a:t>스틱 단가 ~1,780원/포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쿠마마켓 (주력)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쿠마마켓 단일 채널에서 49만 구매자를 달성한 볼륨 플레이어. 공장도 가격을 내세우며 가성비 소비자층을 공략. 평점 5.0으로 제품 만족도 최상위.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쿠마마켓: cumamarket.co.kr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곰보배추시럽 1박스(14포)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24,900원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원료: 곰보배추+배+생강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국내산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볼륨/리뷰 수에서 슈퍼세이브와 직접 경쟁. 단, 채널 다각화(쿠마마켓 편중)와 브랜딩 투자 부재가 약점.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오늘과일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미확인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"국내산 프리미엄 유아/아이 건강즙"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유아/어린이 타겟 특화 포지셔닝. 2만 원 이하 저가 진입으로 접근성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14포 19,980원</a:t>
            </a:r>
            <a:br/>
            <a:r>
              <a:t>스틱 단가 ~1,430원/포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오아시스마켓, 11번가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곰보배추시럽 시장에서 유일하게 유아/아이 전용으로 포지셔닝. 오아시스마켓 등 프리미엄 건강식품 채널에 입점하여 타겟 소비자(건강 관심 높은 엄마)와의 접점 확보.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오아시스마켓 내 검색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곰보배추시럽 스틱 14포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19,980원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원료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국내산 프리미엄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슈퍼세이브가 '온 가족'이라면, 오늘과일은 유아 특화로 세그먼트 차별화. 니치 시장에서 성장 가능성.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곰배랑효소랑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곰배랑효소랑 영농조합법인 · 대표 이흥민 · 경기 여주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"경기도 여주 곰보배추 전문 농장" — 직접 재배→가공 일관 체계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 전 품목 26종 풀라인업. 직접 재배로 원재료 신뢰도 최상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달임액 30포 27,000원 / 차 70포 53,000원 / 환 200g 25,000원</a:t>
            </a:r>
            <a:br/>
            <a:r>
              <a:t>스틱 단가 ~900원/포 (최저가)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 (gombobaechu.com)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 전문 농장 직영으로 원재료부터 최종 제품까지 일관된 품질 관리. 26종이라는 압도적 라인업이 강점이나, 온라인 마케팅과 브랜딩 투자가 매우 미약.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gombobaechu.com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달임액 30포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27,000원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곰보배추차 70포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53,000원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803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926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곰보배추환 200g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25,000원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8803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926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외 23종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다양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원재료 신뢰도에서 최상위이나 브랜딩/마케팅 전무. 원료 파트너로서의 가치 존재.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사온데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사온데 · 낙동강 상수원보호구역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"낙동강 상수원보호구역 재배" — 원산지 프리미엄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상수원보호구역이라는 청정 원산지 스토리. 효소/발효액/시럽/건초/즙 등 다양한 형태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다양 (제품 형태별 상이)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 (saonde.com)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낙동강 상수원보호구역이라는 독보적인 원산지 스토리가 핵심 자산. 다양한 형태로 제품화. 농가 직영 특유의 진정성과 원료 신뢰도가 높으나, 마케팅/브랜딩 활동은 미약.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saonde.com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 효소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별도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 시럽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별도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원산지 스토리텔링 잠재력이 높으나 현재 활용 못하는 상태. 브랜딩 지원 시 급성장 가능성.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새잎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미확인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"곰보배추 + 삼백초 + 엘더베리 복합"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복합 성분 차별화 — 곰보배추 단독이 아닌 삼백초·엘더베리 블렌딩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45,100원 (스틱)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온라인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 시럽 시장에서 복합 성분 전략을 취하는 유일한 브랜드. 가격대가 높아 프리미엄을 지향하나, 브랜드 인지도가 거의 없어 소비자 접근에 한계.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온라인 쇼핑몰 (상세 미확인)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곰보배추시럽 삼백초 엘더베리진액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45,100원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복합 성분 차별화 전략은 슈퍼세이브 라인업 확장 시 참고 가능. 현재 직접 위협은 낮음.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농부건강농원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농업회사법인(주) 농부건강농원 · 대표 고재은 · 경북 예천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"정직한 곰보배추즙" — 예천 농부 부부가 직접 재배·가공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경북 예천 자체 농장, 재배→가공 일관 체계, 대추 첨가로 맛 보완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곰보배추즙 100ml×50포 (대추첨가)</a:t>
            </a:r>
            <a:br/>
            <a:r>
              <a:t>추정 3~5만원대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사이소 마켓(예천 농특산물), 자사몰(farmerfarm.kr)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소규모 농가형 건강원. 산지직송 모델. 대추를 첨가하여 곰보배추 쓴맛을 보완. 브랜딩/SNS 마케팅 거의 없는 전형적 농가 직영 모델.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farmerfarm.kr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정직한 곰보배추즙 100ml×50포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추정 3~5만원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슈퍼세이브의 TV홈쇼핑 유통 대비 로컬 직거래에 머물러 직접 위협 낮음. '자체 재배' 신뢰도는 강점.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동진농장 (부안쇼핑)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동진농장영농조합법인 · 대표 양천 · 전북 부안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"전북 부안 곰보배추 전문 농가" — 부안 산지 프리미엄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부안 곰보배추 산지, 다린즙/발효원액/환/분말 다양한 제형, 낮은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다린즙 30개(100ml) 22,000원</a:t>
            </a:r>
            <a:br/>
            <a:r>
              <a:t>발효원액 1.5L 35,000원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부안쇼핑(buanshop.kr), 옥션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제형이 다양하고(다린즙, 발효원액, 환, 분말) 가격이 낮아 가성비 포지셔닝 명확. 브랜딩 투자 최소. 전통 즙/환 중심.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buanshop.kr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 다린즙 30개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22,000원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발효원액 1.5L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35,000원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가격 경쟁력 우위이나 시럽이 아닌 전통 즙/환 중심. 슈퍼세이브 타겟(유아/가족)과 다른 중장년층 집중.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곰베진 (아름채움)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아름채움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"곰보배추 + 삼백초 + 엘더베리 복합 추출물 스틱"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복수 원료 배합 복합 포뮬러, 스틱 형태 휴대성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곰베진 14포 — 가격 미확인</a:t>
            </a:r>
            <a:br/>
            <a:r>
              <a:t>(카카오톡 스토어 톡딜)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카카오톡 스토어 (톡딜)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 단독이 아닌 삼백초·엘더베리 복합 건강 스틱. 카카오톡 소셜커머스 집중. 인지도/SNS 존재감 낮음.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카카오톡 스토어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 삼백초 추출물 스틱 14포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복합 원료는 차별점이나 유통(카카오톡 톡딜)이 매우 제한적. 슈퍼세이브 대비 규모/브랜딩 열세.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한우리약초 (동의식품)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3 — 농가 직영/로컬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동의식품 · 경기 고양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"국내산 건조 약초 전문" — 200종+ 약초/건초 유통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200종 이상 약초 카탈로그, 건조 원물 중심, DIY 건강식품 소비자 타겟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곰보배추 건조 300g — 미확인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 (hanwoore.com)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원물 판매 모델. 소비자가 직접 달여 먹는 전통적 소비 패턴 대응. 가공식품이 아닌 원재료 유통.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hanwoore.com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곰보배추 건조 300g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직접 경쟁자라기보다 시장 인접 플레이어. 원물 구매 소비자는 슈퍼세이브의 편의형 시럽 타겟과 다름.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GNM자연의품격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2D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(주)지엔엠라이프 · 공동대표 이건수, 박유영, 유재국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"누구나 건강할 자격" — 건강즙 시장 국내 1위급, 9년 연속 소비자만족지수 1위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2023년 매출 약 970억원, 유기농 양배추즙 누적 1.5억포, 올리브영/SSG/홈쇼핑 전 채널 입점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유기농 양배추즙 30포 15,000~20,000원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자사몰, 올리브영, SSG, 롯데홈쇼핑, 쿠팡, 코스트코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건강즙 전 카테고리 커버. 올리브영 입점으로 2030세대 포괄. 건기식까지 사업 확장. 곰보배추 카테고리 미진출이나 진입 시 최대 위협.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gnmart.co.kr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유기농 양배추즙 30포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~20,000원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흑마늘진액 30포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~18,000원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매출 규모 압도적(970억). 곰보배추 미진출이 슈퍼세이브의 기회 — 카테고리 선점이 핵심.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참앤들황토농원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2D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(주)참앤들황토농원 · 대표 권종성 · 부산 강서구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"NFC 착즙 건강즙 전문" — 직접 생산, 중간 유통 제거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2024년 매출 약 83억원, NFC 착즙 공법, GS홈쇼핑 입점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유기농 양배추즙 30포</a:t>
            </a:r>
            <a:br/>
            <a:r>
              <a:t>15,000~30,000원대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자사몰(htfarm.co.kr), GS홈쇼핑, SSG, 네이버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NFC 100% 착즙 강조. GS홈쇼핑 브랜드관 운영. 중간 유통 제거로 합리적 가격. 곰보배추 미진출이나 다품종 전략.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htfarm.co.kr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양배추즙 30포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~20,000원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칡즙/흑염소 30포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~30,000원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GS홈쇼핑 입점으로 슈퍼세이브(CJ온스타일)와 유사 유통 전략. 곰보배추 진입 가능성 존재.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김재식헬스푸드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농업회사법인 김재식헬스푸드(주) · 대표 김재식 · 경북 영천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"진짜 양배추즙" — 저온착즙 100%, 22년 업력 농가 기반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2003년 설립(22년), 매출 약 36억원(2023), GS홈쇼핑/CJ온스타일 입점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양배추즙 100ml×30포 21,900원</a:t>
            </a:r>
            <a:br/>
            <a:r>
              <a:t>(정가 40,000원, ~45% 할인)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자사몰(drkims.co.kr), GS홈쇼핑, G마켓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정가 대비 40~50% 할인 가격 전략. 양배추즙 중심. 종합 농산 가공 기업(즙/잼/면류/포도주). 곰보배추 미진출.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drkims.co.kr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진짜 양배추즙 30포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21,900원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ABC주스 30포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22,900원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농가+TV홈쇼핑 모델이 슈퍼세이브와 유사. 브랜딩 수준은 슈퍼세이브보다 낮음.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유기농마루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2D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농업회사법인 (주)유기농마루 · 대표 김상범 · 광주 광산구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"원료까지 생각하는 친환경 브랜드" — 유기농 인증 건강즙 전문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2022년 매출 약 132억원, 유기농 인증 원료 특화, SSG 브랜드관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유기농 양배추즙 30포</a:t>
            </a:r>
            <a:br/>
            <a:r>
              <a:t>15,000~20,000원대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자사몰(organicmaru.co.kr), SSG, G마켓, 네이버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'유기농'이 핵심 정체성. 양배추즙 중심 + 석류즙/매실청 확장. 곰보배추 미진출이나 시장 성장 시 진입 가능.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organicmaru.co.kr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유기농 양배추즙 30포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~20,000원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석류즙/매실청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다양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유기농 인증은 슈퍼세이브 미보유 강점. 곰보배추 미진출이나 유기농 곰보배추즙 진입 가능성.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천호엔케어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2D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1 — 브랜딩 선도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(주)천호엔케어 · 1984년 창업 · 40년 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"한방건강식품 선도 기업" — 달팽이엑기스로 시장 개척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2023년 매출 414억원, 74% 반복구매율, TV홈쇼핑 전 채널, 일본/미국 수출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프리미엄 (제품별 상이)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자사몰, CJ/GS/롯데/현대 전 홈쇼핑, 온라인 전 채널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건강즙 시장 원조. 달팽이엑기스/강화사자발쑥 히트상품. 한방약초 기반이라 곰보배추 진입 가능성 높음. 74% 반복구매율.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chunhomall.com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달팽이엑기스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프리미엄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강화사자발쑥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프리미엄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규모(414억)와 채널 파워 압도적. 곰보배추 미출시이나 잠재적 고위협. 카테고리 선점이 관건.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국내  |  순수식품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TIER 2 — 가성비/볼륨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운영사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농업회사법인 (주)순수식품 · 대표 김인섭 · 진주/서울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"싸다좋다 순수식품" — 가격 경쟁력 + 셀프 메디케이션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핵심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착즙/저온추출/동결건조 다양한 기술, 엘더베리시럽 보유, 매출 약 22억(2023)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가격대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도라지배즙 80ml×100포</a:t>
            </a:r>
            <a:br/>
            <a:r>
              <a:t>~25,000~35,000원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유통 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자사몰(soonsoofood.co.kr), SSG, 네이버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브랜드 특징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'싸다좋다' 슬로건. 가격 경쟁력 핵심. 도라지배즙~콜라겐젤리까지 넓은 라인업. 엘더베리시럽 보유.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온라인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홈페이지: soonsoofood.co.kr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도라지배즙 100포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~30,000원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엘더베리시럽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BRAND RISE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매출 규모 유사(22억). 가격경쟁+다품종 vs 슈퍼세이브 곰보배추 특화+프리미엄. 곰보배추 진입 시 가격 경쟁 발생 가능.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Ricola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스위스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1930년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CHF 3.39억+ (2018), 2023 역대 최고 매출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스위스 알프스 허브의 힘으로 목과 호흡기를 케어하는 프리미엄 허벌 캔디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변하지 않은 13허브 레시피로 원조 포지셔닝. Swiss Made 원산지 프리미엄. 2023 B Corp 인증. 50개국+ 수출, 연간 70억개 생산.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ricola.com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13가지 스위스 알프스 허브 블렌드 캔디/시럽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60종+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 단일 원료를 리콜라의 시그니처 레시피처럼 원조 포지셔닝으로 승화. 원산지 스토리 활용.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Sambucol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이스라엘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1991년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비공개 (60개국 유통, 미국 엘더베리 시럽 1위)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바이러스학자가 개발한 과학 기반 엘더베리 면역 시럽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Dr. Mumcuoglu가 항바이러스 성분 학술 규명 후 상품화. 신종플루/독감 시즌마다 매출 급증. 면역=엘더베리=Sambucol 공식.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sambucolusa.com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블랙 엘더베리 시럽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오리지널/키즈/이뮨 포르테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 호흡기 효능의 임상/학술 데이터 확보 → '연구 기반 허벌 시럽' 포지셔닝.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Nin Jiom Pei Pa Koa (배파고)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홍콩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1946년 (레시피 청나라)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HKD 3.5억 (약 600억원, 2014)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효심에서 탄생한 150년 전통 한방 목 시럽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'어머니를 그리며'라는 효도 스토리 내러티브. 브로드웨이/셀럽 자발적 바이럴. 캔디/차 등 포맷 확장으로 젊은층 공략.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ninjiom.com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배파고 — 15가지 한방 허브+꿀 목 시럽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20개국+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곰보배추의 '할머니 손 레시피' 전통 스토리텔링 + 캔디/차 서브 포맷 확장.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Gaia Herbs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1987년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약 $82M (2026 추정), 리브랜딩 후 4년간 3배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농장에서 소비자까지 — 세계 최초 허브 추적 가능 프리미엄 허벌 보충제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Meet Your Herbs 원산지 추적 플랫폼. DNA 검증 라벨. 자체 유기농 농장. 투명성만으로 4년 3배 매출 성장.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gaiaherbs.com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액상 허브 추출물 60종+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Bronchial Wellness 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 원산지 재배→수확→가공 추적 시스템 구축 → D2C 자사몰 전략의 교과서.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Comvita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뉴질랜드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1974년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NZD 2.04억 (FY2024), NZX 상장사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뉴질랜드 원시 자연의 과학적 벌꿀 기반 면역 솔루션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UMF 등급 시스템 공동 개발로 산업 표준 정립. 블록체인 원산지 추적. 로젠지/스낵 확장 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comvita.com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UMF 마누카 꿀 / 프로폴리스 시럽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면역 로젠지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 자체 품질 등급 체계를 만들면 카테고리 리더 가능.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AG1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2009년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약 $600M (2024 추정), 기업가치 $1.2B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하루 한 스쿱으로 끝내는 올인원 영양 솔루션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단일 제품 $600M 매출. 구독 모델 핵심. 팟캐스트 광고주 3위. 공항/스타벅스 오프라인 확장 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drinkag1.com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AG1 그린 파우더 — 단일 SKU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75종 영양소 올인원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곰보배추시럽을 단일 히어로 SKU+정기구독 모델로 설계, 인플루언서 파트너십 집중.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Traditional Medicinals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1974년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$170M (2024), 전년비 15%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약초학자가 만든 미국 No.1 메디컬 그레이드 허벌 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약초학자 Rosemary Gladstar 창업. 연간 7.82억 티백. 유기농+공정무역 이중 가치.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traditionalmedicinals.com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약용 허벌 티 60종+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소화/면역/수면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한방/약초 전문가 권위 콘텐츠 + 시럽 외 티백/분말 포맷 확장.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Pukka Herbs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영국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2001년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GBP 35.9M (2017 Unilever 인수), 연 25~28%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사람, 식물, 지구의 건강을 연결하는 유기농 티 브랜드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B Corp + 1% for the Planet. 미션 드리븐 브랜딩. 45개국 수출. 2017년 Unilever 인수.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pukkaherbs.com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프리미엄 유기농 허벌 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Elderberry &amp; Echinacea 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브랜드 미션/가치 체계를 먼저 확립, 모든 터치포인트에 일관 반영하는 미션 드리븐 브랜딩.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Herbion Naturals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파키스탄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1983년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비공개 (40개국+, 250종+ 제품)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40년 전통 허벌 기침 시럽 글로벌 리더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중앙아시아 거점 → 40개국 확장. GMP 인증 4개 공장. 시럽→스킨케어까지 250종. Target/Walmart/CVS 입점.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pk.herbion.com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Linkus 기침 시럽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Ivy Leaf Cough Drops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동남아/중화권 등 한방 친화적 거점 시장 먼저 공략 → 글로벌 확장 단계적 전략.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해외  |  Umeken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37160"/>
            <a:ext cx="2286000" cy="32004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55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일본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설립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1978년 (뿌리 1958년)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매출/규모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비공개 (연간 200톤, 10억알+ 생산)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맑은 고딕"/>
              </a:defRPr>
            </a:pPr>
            <a:r>
              <a:t>●  포지셔닝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에도시대 약환 전통을 현대 과학으로 재해석한 일본 No.1 허브 보충제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3035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핵심 성공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에도시대 도야마현 약환 전통 헤리티지. 45가지 허브 한알 압축 기술. 자체 스피루리나 농장. 30년+ 해외 운영.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홈페이지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B82F6"/>
                </a:solidFill>
                <a:latin typeface="맑은 고딕"/>
              </a:defRPr>
            </a:pPr>
            <a:r>
              <a:t>umeken.com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주요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65960"/>
            <a:ext cx="2468880" cy="77724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맑은 고딕"/>
              </a:defRPr>
            </a:pPr>
            <a:r>
              <a:t>우메보시 볼 / 스피루리나 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45종 한방 허브 압축볼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38100" cy="109728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5029200" cy="1097280"/>
          </a:xfrm>
          <a:prstGeom prst="round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1605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3A8C"/>
                </a:solidFill>
                <a:latin typeface="맑은 고딕"/>
              </a:defRPr>
            </a:pPr>
            <a:r>
              <a:t>벤치마킹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맑은 고딕"/>
              </a:defRPr>
            </a:pPr>
            <a:r>
              <a:t>곰보배추 한국 전통 민간요법 역사를 헤리티지 스토리로 구조화 + 환/정제 간편 제형 확장.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94960"/>
            <a:ext cx="5120640" cy="9144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슈퍼세이브 브랜드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Brand Diagnosis — 기업 정보, 제품, 유통, SNS, 브랜딩 현황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04. 슈퍼세이브 브랜드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기업 정보 &amp; 제품 라인업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8100" cy="438912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법인명: 주식회사 승만</a:t>
            </a:r>
            <a:br/>
            <a:r>
              <a:t>대표: 신주리</a:t>
            </a:r>
            <a:br/>
            <a:r>
              <a:t>설립: 2022년 (추정)</a:t>
            </a:r>
            <a:br/>
            <a:r>
              <a:t>소재: 경기 고양시 일산동구</a:t>
            </a:r>
            <a:br/>
            <a:r>
              <a:t>슬로건: "온 가족 건강방패 슈퍼세이브"</a:t>
            </a:r>
            <a:br/>
            <a:r>
              <a:t>스토리: "두 아들의 엄마가 만든 우리집 상비식품"</a:t>
            </a:r>
            <a:br/>
            <a:r>
              <a:t>공식몰: supersave.kr (카페24)</a:t>
            </a:r>
            <a:br/>
            <a:r>
              <a:t>추정 매출: 연 10~20억원대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30352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38100" cy="4389120"/>
          </a:xfrm>
          <a:prstGeom prst="rect">
            <a:avLst/>
          </a:prstGeom>
          <a:solidFill>
            <a:srgbClr val="E84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맑은 고딕"/>
              </a:defRPr>
            </a:pPr>
            <a: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① 곰보배추시럽 선물세트 (10g×15포×3박스)</a:t>
            </a:r>
            <a:br/>
            <a:r>
              <a:t>   정가 86,850원 → 할인가 52,000원 (~40%↓)</a:t>
            </a:r>
            <a:br/>
            <a:br/>
            <a:r>
              <a:t>② 곰보배추시럽 300ml 병</a:t>
            </a:r>
            <a:br/>
            <a:r>
              <a:t>   오아시스마켓 등에서 판매</a:t>
            </a:r>
            <a:br/>
            <a:br/>
            <a:r>
              <a:t>③ 기타 건강식품 라인업 확장 중</a:t>
            </a:r>
            <a:br/>
            <a:br/>
            <a:r>
              <a:t>※ 현재 선물세트 SOLD OUT 상태 (2026.04)</a:t>
            </a:r>
          </a:p>
        </p:txBody>
      </p:sp>
      <p:pic>
        <p:nvPicPr>
          <p:cNvPr id="15" name="Picture 14" descr="chart_pri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0"/>
            <a:ext cx="53035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04. 슈퍼세이브 브랜드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유통 &amp; SNS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8C"/>
                </a:solidFill>
                <a:latin typeface="맑은 고딕"/>
              </a:defRPr>
            </a:pPr>
            <a:r>
              <a:t>유통 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CJ온스타일 — 단독 런칭, TV홈쇼핑 핵심 채널</a:t>
            </a:r>
            <a:br/>
            <a:r>
              <a:t>• 자사몰 (supersave.kr) — 카페24 기반</a:t>
            </a:r>
            <a:br/>
            <a:r>
              <a:t>• 오아시스마켓 — 프리미엄 건강식품 채널</a:t>
            </a:r>
            <a:br/>
            <a:r>
              <a:t>• G마켓 — 뉴온아이앤씨 명의 판매</a:t>
            </a:r>
            <a:br/>
            <a:r>
              <a:t>• 네이버 스마트스토어 — 검색 유입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4389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8C"/>
                </a:solidFill>
                <a:latin typeface="맑은 고딕"/>
              </a:defRPr>
            </a:pPr>
            <a:r>
              <a:t>SNS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인스타그램: @supergombo</a:t>
            </a:r>
            <a:br/>
            <a:r>
              <a:t>  → 팔로워/콘텐츠 규모 확인 필요</a:t>
            </a:r>
            <a:br/>
            <a:r>
              <a:t>  → 바이오: "곰보배추시럽 원조, 네이버 1위"</a:t>
            </a:r>
            <a:br/>
            <a:br/>
            <a:r>
              <a:t>• 블로그/카페: 네이버 블로그 후기 다수</a:t>
            </a:r>
            <a:br/>
            <a:r>
              <a:t>  → 체험단/협찬 후기 중심</a:t>
            </a:r>
            <a:br/>
            <a:br/>
            <a:r>
              <a:t>• 유튜브/틱톡: 미운영 (기회 영역)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04. 슈퍼세이브 브랜드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SWOT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44</a:t>
            </a:r>
          </a:p>
        </p:txBody>
      </p:sp>
      <p:pic>
        <p:nvPicPr>
          <p:cNvPr id="7" name="Picture 6" descr="chart_sw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972800" cy="765711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유통 채널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Distribution Channel — 온/오프라인 채널 현황 및 전략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05. 유통 채널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채널별 비중 &amp;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46</a:t>
            </a:r>
          </a:p>
        </p:txBody>
      </p:sp>
      <p:pic>
        <p:nvPicPr>
          <p:cNvPr id="7" name="Picture 6" descr="chart_channel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972800" cy="95772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05. 유통 채널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채널 전략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47</a:t>
            </a:r>
          </a:p>
        </p:txBody>
      </p:sp>
      <p:pic>
        <p:nvPicPr>
          <p:cNvPr id="7" name="Picture 6" descr="chart_pri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972800" cy="4418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슈퍼세이브는 CJ온스타일 + 자사몰 중심에서 → 쿠팡/네이버/라이브커머스 확대가 핵심 과제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인사이트 &amp; 기회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Insights &amp; Opportunities — SWOT, 핵심 기회, 전략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06. 인사이트 &amp;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핵심 기회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49</a:t>
            </a:r>
          </a:p>
        </p:txBody>
      </p:sp>
      <p:pic>
        <p:nvPicPr>
          <p:cNvPr id="7" name="Picture 6" descr="chart_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972800" cy="622183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06. 인사이트 &amp;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전략 방향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50</a:t>
            </a:r>
          </a:p>
        </p:txBody>
      </p:sp>
      <p:pic>
        <p:nvPicPr>
          <p:cNvPr id="7" name="Picture 6" descr="char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430000" cy="440957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해외 시장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맑은 고딕"/>
              </a:defRPr>
            </a:pPr>
            <a:r>
              <a:t>Global Market — 글로벌 허벌 시장, 벤치마킹 브랜드, 진출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07. 해외 시장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글로벌 허벌 시장 규모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A8C"/>
                </a:solidFill>
                <a:latin typeface="맑은 고딕"/>
              </a:defRPr>
            </a:pPr>
            <a:r>
              <a:t>$2,512억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글로벌 허벌 시장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A8C"/>
                </a:solidFill>
                <a:latin typeface="맑은 고딕"/>
              </a:defRPr>
            </a:pPr>
            <a:r>
              <a:t>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CAGR (2025-2030)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A8C"/>
                </a:solidFill>
                <a:latin typeface="맑은 고딕"/>
              </a:defRPr>
            </a:pPr>
            <a:r>
              <a:t>$4,200억+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2030 전망치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468880" cy="9144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A8C"/>
                </a:solidFill>
                <a:latin typeface="맑은 고딕"/>
              </a:defRPr>
            </a:pPr>
            <a:r>
              <a:t>아시아태평양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최대 성장 지역</a:t>
            </a:r>
          </a:p>
        </p:txBody>
      </p:sp>
      <p:pic>
        <p:nvPicPr>
          <p:cNvPr id="19" name="Picture 18" descr="chart_global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972800" cy="554839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07. 해외 시장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해외 벤치마킹 브랜드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Ricola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스위스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허벌 캔디/음료 글로벌 리더</a:t>
            </a:r>
            <a:br/>
            <a:r>
              <a:t>100년+ 전통, 50개국 유통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371600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28016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Manuka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91639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뉴질랜드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마누카꿀 프리미엄 브랜드</a:t>
            </a:r>
            <a:br/>
            <a:r>
              <a:t>원산지 스토리텔링 벤치마크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1371600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28016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Sambucol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91639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이스라엘→글로벌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659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엘더베리 시럽 선도 브랜드</a:t>
            </a:r>
            <a:br/>
            <a:r>
              <a:t>면역력 포지셔닝 레퍼런스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1371600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Traditional Medicinals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미국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허벌티 프리미엄 브랜드</a:t>
            </a:r>
            <a:br/>
            <a:r>
              <a:t>B Corp 인증, 지속가능성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749039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59" y="365760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Comvita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069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뉴질랜드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마누카꿀 + 프로폴리스</a:t>
            </a:r>
            <a:br/>
            <a:r>
              <a:t>아시아 시장 진출 성공 사례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59" y="3749039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3657600"/>
            <a:ext cx="34747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Iberogast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69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A8C"/>
                </a:solidFill>
                <a:latin typeface="맑은 고딕"/>
              </a:defRPr>
            </a:pPr>
            <a:r>
              <a:t>독일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343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맑은 고딕"/>
              </a:defRPr>
            </a:pPr>
            <a:r>
              <a:t>허벌 의약품 브랜드</a:t>
            </a:r>
            <a:br/>
            <a:r>
              <a:t>임상연구 기반 신뢰 구축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3749039"/>
            <a:ext cx="100584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491D"/>
                </a:solidFill>
                <a:latin typeface="맑은 고딕"/>
              </a:defRPr>
            </a:pPr>
            <a:r>
              <a:t>07. 해외 시장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해외 진출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00" cy="25400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B7280"/>
                </a:solidFill>
                <a:latin typeface="맑은 고딕"/>
              </a:defRPr>
            </a:pPr>
            <a:r>
              <a:t>BRAND 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74720" cy="4572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8100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기반 구축 (1-6개월)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브랜드 BI/패키징 글로벌화</a:t>
            </a:r>
            <a:br/>
            <a:r>
              <a:t>• 영문 자사몰 구축</a:t>
            </a:r>
            <a:br/>
            <a:r>
              <a:t>• 아마존 글로벌 셀링 입점</a:t>
            </a:r>
            <a:br/>
            <a:r>
              <a:t>• 해외 인증 준비 (FDA 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80160"/>
            <a:ext cx="3474720" cy="4572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280160"/>
            <a:ext cx="38100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아시아 진출 (6-12개월)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일본/대만/동남아 타겟</a:t>
            </a:r>
            <a:br/>
            <a:r>
              <a:t>• 현지 유통 파트너 확보</a:t>
            </a:r>
            <a:br/>
            <a:r>
              <a:t>• K-뷰티/K-푸드 연계 마케팅</a:t>
            </a:r>
            <a:br/>
            <a:r>
              <a:t>• 현지 인플루언서 협업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280160"/>
            <a:ext cx="3474720" cy="4572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280160"/>
            <a:ext cx="38100" cy="45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7373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맑은 고딕"/>
              </a:defRPr>
            </a:pPr>
            <a:r>
              <a:t>글로벌 확장 (12-24개월)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맑은 고딕"/>
              </a:defRPr>
            </a:pPr>
            <a:r>
              <a:t>• 미국/유럽 시장 진입</a:t>
            </a:r>
            <a:br/>
            <a:r>
              <a:t>• 오프라인 리테일 입점</a:t>
            </a:r>
            <a:br/>
            <a:r>
              <a:t>• 현지화 제품 개발</a:t>
            </a:r>
            <a:br/>
            <a:r>
              <a:t>• 글로벌 브랜드 캠페인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645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9999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Market Desk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슈퍼세이브 — 곰보배추시럽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474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건강즙/허벌시럽 카테고리 · 국내외 시장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맑은 고딕"/>
              </a:defRPr>
            </a:pPr>
            <a:r>
              <a:t>Prepared by BRAND RISE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937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77777"/>
                </a:solidFill>
                <a:latin typeface="맑은 고딕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